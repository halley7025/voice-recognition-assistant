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1371600"/>
            <a:ext cx="3657600" cy="3657600"/>
          </a:xfrm>
          <a:prstGeom prst="ellipse">
            <a:avLst/>
          </a:prstGeom>
          <a:solidFill>
            <a:srgbClr val="667EEA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2011680"/>
            <a:ext cx="2286000" cy="2286000"/>
          </a:xfrm>
          <a:prstGeom prst="ellipse">
            <a:avLst/>
          </a:prstGeom>
          <a:solidFill>
            <a:srgbClr val="764BA2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语音识别助手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00E5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Recognition Assistant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2286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108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Faster-Whisper + ECAPA-TDNN 的智能语音控制系统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系统综合实践项目汇报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Overview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023360" cy="3474720"/>
          </a:xfrm>
          <a:prstGeom prst="roundRect">
            <a:avLst>
              <a:gd name="adj" fmla="val 2632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构建一个本地化的智能语音控制助手，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用户通过自然语言语音指令即可控制电脑，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支持应用启停、音量调节、截图搜索等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常见系统操作，并集成声纹身份验证。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4023360" cy="3474720"/>
          </a:xfrm>
          <a:prstGeom prst="roundRect">
            <a:avLst>
              <a:gd name="adj" fmla="val 2632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ASR 引擎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Faster-Whisper (CTranslate2)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2350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声纹识别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23500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ECAPA-TDNN (SpeechBrain)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27340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音频处理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27340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Silero VAD + NumPy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311810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指令解析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311810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+ 拼音编辑距离 + NLU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35021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界面框架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35021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PyQt5 + QSS 毛玻璃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3886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语音合成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pyttsx3 TTS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 - Pipeline Overview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08760" cy="2560320"/>
          </a:xfrm>
          <a:prstGeom prst="roundRect">
            <a:avLst>
              <a:gd name="adj" fmla="val 6061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71600"/>
            <a:ext cx="150876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5544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音频采集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PyAudio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麦克风录音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83080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5568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011680" y="1371600"/>
            <a:ext cx="1508760" cy="2560320"/>
          </a:xfrm>
          <a:prstGeom prst="roundRect">
            <a:avLst>
              <a:gd name="adj" fmla="val 6061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11680" y="1371600"/>
            <a:ext cx="150876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2011680" y="15544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音频预处理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103120" y="205740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Silero VAD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峰值归一化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噪声门控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5568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749040" y="1371600"/>
            <a:ext cx="1508760" cy="2560320"/>
          </a:xfrm>
          <a:prstGeom prst="roundRect">
            <a:avLst>
              <a:gd name="adj" fmla="val 6061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49040" y="1371600"/>
            <a:ext cx="1508760" cy="54864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15544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205740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Faster-Whisper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beam_size=3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热词引导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57800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5568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86400" y="1371600"/>
            <a:ext cx="1508760" cy="2560320"/>
          </a:xfrm>
          <a:prstGeom prst="roundRect">
            <a:avLst>
              <a:gd name="adj" fmla="val 6061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1371600"/>
            <a:ext cx="1508760" cy="54864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15544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指令解析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205740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Trie纠错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拼音匹配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NLU兜底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95160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556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223760" y="1371600"/>
            <a:ext cx="1508760" cy="2560320"/>
          </a:xfrm>
          <a:prstGeom prst="roundRect">
            <a:avLst>
              <a:gd name="adj" fmla="val 6061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223760" y="1371600"/>
            <a:ext cx="1508760" cy="54864"/>
          </a:xfrm>
          <a:prstGeom prst="rect">
            <a:avLst/>
          </a:prstGeom>
          <a:solidFill>
            <a:srgbClr val="FFAB40"/>
          </a:solidFill>
          <a:ln/>
        </p:spPr>
      </p:sp>
      <p:sp>
        <p:nvSpPr>
          <p:cNvPr id="28" name="Text 26"/>
          <p:cNvSpPr/>
          <p:nvPr/>
        </p:nvSpPr>
        <p:spPr>
          <a:xfrm>
            <a:off x="7223760" y="15544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AB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系统执行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0" y="205740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应用启停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音量调节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截图搜索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206240"/>
            <a:ext cx="8595360" cy="640080"/>
          </a:xfrm>
          <a:prstGeom prst="roundRect">
            <a:avLst>
              <a:gd name="adj" fmla="val 14286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4206240"/>
            <a:ext cx="8595360" cy="54864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声纹验证层  |  ECAPA-TDNN 嵌入提取 → 注册/验证闭环 → 用户身份确认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语音识别引擎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ASR Engine - Faster-Whisper + OpenAI Whisper Dual Engine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206240" cy="3566160"/>
          </a:xfrm>
          <a:prstGeom prst="roundRect">
            <a:avLst>
              <a:gd name="adj" fmla="val 2564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引擎特性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双引擎架构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1168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Faster-Whisper (CTranslate2) 为主，OpenAI Whisper 兜底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3591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束搜索解码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23591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beam_size=3，平衡准确率与速度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7980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热词引导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27980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动态注入应用名，提升专有名词识别率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23697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幻觉过滤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11680" y="3236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重复检测 + 动词验证 + 长度截断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繁简转换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011680" y="36758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内置繁体→简体映射表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114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VAD 加速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4114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Silero VAD 过滤静音段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28016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关键参数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029200" y="1920240"/>
            <a:ext cx="3566160" cy="320040"/>
          </a:xfrm>
          <a:prstGeom prst="rect">
            <a:avLst/>
          </a:prstGeom>
          <a:solidFill>
            <a:srgbClr val="00E5FF">
              <a:alpha val="2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2286000"/>
            <a:ext cx="3566160" cy="301752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228600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beam_size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949440" y="2286000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0" y="2587752"/>
            <a:ext cx="3566160" cy="301752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2587752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9440" y="2587752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0" y="2889504"/>
            <a:ext cx="3566160" cy="301752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2" name="Text 30"/>
          <p:cNvSpPr/>
          <p:nvPr/>
        </p:nvSpPr>
        <p:spPr>
          <a:xfrm>
            <a:off x="5120640" y="2889504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repetition_penalty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49440" y="2889504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0" y="3191256"/>
            <a:ext cx="3566160" cy="301752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0" y="3191256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no_speech_threshold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49440" y="3191256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0" y="3493008"/>
            <a:ext cx="3566160" cy="301752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3493008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log_prob_threshold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49440" y="349300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029200" y="3794760"/>
            <a:ext cx="3566160" cy="301752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41" name="Text 39"/>
          <p:cNvSpPr/>
          <p:nvPr/>
        </p:nvSpPr>
        <p:spPr>
          <a:xfrm>
            <a:off x="5120640" y="379476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compression_ratio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49440" y="3794760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2.4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0" y="4096512"/>
            <a:ext cx="3566160" cy="301752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44" name="Text 42"/>
          <p:cNvSpPr/>
          <p:nvPr/>
        </p:nvSpPr>
        <p:spPr>
          <a:xfrm>
            <a:off x="5120640" y="4096512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language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949440" y="4096512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zh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0" y="4398264"/>
            <a:ext cx="3566160" cy="301752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0" y="4398264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compute_type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949440" y="4398264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音频预处理流水线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Audio Preprocessing - Silero VAD + Noise Gate + Normalization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1600200" cy="2377440"/>
          </a:xfrm>
          <a:prstGeom prst="roundRect">
            <a:avLst>
              <a:gd name="adj" fmla="val 5714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80160"/>
            <a:ext cx="16002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麦克风采集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PyAudio 16kHz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单通道 PCM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float32 归一化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74520" y="21031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29968" y="1280160"/>
            <a:ext cx="1600200" cy="2377440"/>
          </a:xfrm>
          <a:prstGeom prst="roundRect">
            <a:avLst>
              <a:gd name="adj" fmla="val 5714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29968" y="1280160"/>
            <a:ext cx="16002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2121408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Silero VAD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21408" y="192024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神经网络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576样本/帧扫描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语音概率阈值 0.45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21031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85616" y="1280160"/>
            <a:ext cx="1600200" cy="2377440"/>
          </a:xfrm>
          <a:prstGeom prst="roundRect">
            <a:avLst>
              <a:gd name="adj" fmla="val 5714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85616" y="1280160"/>
            <a:ext cx="1600200" cy="54864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8" name="Text 16"/>
          <p:cNvSpPr/>
          <p:nvPr/>
        </p:nvSpPr>
        <p:spPr>
          <a:xfrm>
            <a:off x="3877056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峰值归一化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77056" y="192024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线性缩放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目标峰值 0.7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保留瞬态细节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85816" y="21031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41264" y="1280160"/>
            <a:ext cx="1600200" cy="2377440"/>
          </a:xfrm>
          <a:prstGeom prst="roundRect">
            <a:avLst>
              <a:gd name="adj" fmla="val 5714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41264" y="1280160"/>
            <a:ext cx="1600200" cy="54864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23" name="Text 21"/>
          <p:cNvSpPr/>
          <p:nvPr/>
        </p:nvSpPr>
        <p:spPr>
          <a:xfrm>
            <a:off x="5632704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噪声门控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32704" y="192024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按帧 RMS 计算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 5% 最大值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帧静零处理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41464" y="21031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296912" y="1280160"/>
            <a:ext cx="1600200" cy="2377440"/>
          </a:xfrm>
          <a:prstGeom prst="roundRect">
            <a:avLst>
              <a:gd name="adj" fmla="val 5714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296912" y="1280160"/>
            <a:ext cx="1600200" cy="54864"/>
          </a:xfrm>
          <a:prstGeom prst="rect">
            <a:avLst/>
          </a:prstGeom>
          <a:solidFill>
            <a:srgbClr val="FFAB40"/>
          </a:solidFill>
          <a:ln/>
        </p:spPr>
      </p:sp>
      <p:sp>
        <p:nvSpPr>
          <p:cNvPr id="28" name="Text 26"/>
          <p:cNvSpPr/>
          <p:nvPr/>
        </p:nvSpPr>
        <p:spPr>
          <a:xfrm>
            <a:off x="7388352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AB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预加重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88352" y="1920240"/>
            <a:ext cx="1417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高通滤波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 0.97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增强辅音能量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3931920"/>
            <a:ext cx="8595360" cy="914400"/>
          </a:xfrm>
          <a:prstGeom prst="roundRect">
            <a:avLst>
              <a:gd name="adj" fmla="val 10000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" y="4023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strict_vad() 双重验证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能量阈值检测 + Silero VAD 概率验证 + 最短语音时长过滤（0.3s），确保送入 Whisper 的音频为有效语音段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指令解析系统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Command Parser - 6-Layer Fallback Strategy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41732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00E5FF">
              <a:alpha val="3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17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拼音纠错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前缀树前向最大匹配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拼音级编辑距离兜底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自动纠正 Whisper 碎片化输出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28016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41732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00BCD4">
              <a:alpha val="3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417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C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620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精确关键词匹配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18288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250+ 关键词-指令映射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白名单应用名匹配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最长匹配优先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128016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141732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667EEA">
              <a:alpha val="3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1417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1228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正则模式匹配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63640" y="18288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动词+应用名模式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"打开XXX" 结构提取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支持多种动词变体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320040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333756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764BA2">
              <a:alpha val="3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337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64B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64B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滑动拼音匹配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" y="37490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拼音音节序列对齐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处理词边界错误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容许音节级误差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0" y="320040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37560" y="333756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00E676">
              <a:alpha val="3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337560" y="3337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862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NLU 语义模型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337560" y="37490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BERT-base-chinese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类意图分类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置信度阈值 0.5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26480" y="3200400"/>
            <a:ext cx="2697480" cy="1691640"/>
          </a:xfrm>
          <a:prstGeom prst="roundRect">
            <a:avLst>
              <a:gd name="adj" fmla="val 540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263640" y="3337560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FFAB40">
              <a:alpha val="3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263640" y="3337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B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AB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模糊+语义兜底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63640" y="37490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关键词模糊匹配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编辑距离计算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最终语义兜底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声纹识别模块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Verification - ECAPA-TDNN Voiceprint Recognition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注册流程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228600" cy="228600"/>
          </a:xfrm>
          <a:prstGeom prst="ellipse">
            <a:avLst/>
          </a:prstGeom>
          <a:solidFill>
            <a:srgbClr val="00E5FF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1920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用户输入用户名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377440"/>
            <a:ext cx="228600" cy="228600"/>
          </a:xfrm>
          <a:prstGeom prst="ellipse">
            <a:avLst/>
          </a:prstGeom>
          <a:solidFill>
            <a:srgbClr val="00E5FF">
              <a:alpha val="3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774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动态采样器生成 3 段提示词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788920"/>
            <a:ext cx="228600" cy="228600"/>
          </a:xfrm>
          <a:prstGeom prst="ellipse">
            <a:avLst/>
          </a:prstGeom>
          <a:solidFill>
            <a:srgbClr val="00E5FF">
              <a:alpha val="3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889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根据提示词长度计算录音时长（3-5s）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00E5FF">
              <a:alpha val="3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004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逐段录音 → Silero VAD 提取语音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611880"/>
            <a:ext cx="228600" cy="228600"/>
          </a:xfrm>
          <a:prstGeom prst="ellipse">
            <a:avLst/>
          </a:prstGeom>
          <a:solidFill>
            <a:srgbClr val="00E5FF">
              <a:alpha val="3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611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ECAPA-TDNN 提取 192 维嵌入向量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023360"/>
            <a:ext cx="228600" cy="228600"/>
          </a:xfrm>
          <a:prstGeom prst="ellipse">
            <a:avLst/>
          </a:prstGeom>
          <a:solidFill>
            <a:srgbClr val="00E5FF">
              <a:alpha val="3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0233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0584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段嵌入取平均 → 存入 speakers.json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128016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验证流程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录音 3s → VAD 提取 → ECAPA-TDNN 嵌入 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余弦相似度计算 → 阈值 0.5 判定通过/拒绝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320040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2920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关键参数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0" y="36576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模型: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ECAPA-TDNN (SpeechBrain)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嵌入维度: </a:t>
            </a:r>
            <a:pPr indent="0" marL="0">
              <a:buNone/>
            </a:pPr>
            <a:r>
              <a:rPr lang="en-US" sz="1100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192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相似度阈值: </a:t>
            </a:r>
            <a:pPr indent="0" marL="0">
              <a:buNone/>
            </a:pPr>
            <a:r>
              <a:rPr lang="en-US" sz="1100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0.50 (余弦距离)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存储: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speaker_db/speakers.json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 界面设计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 Interface - PyQt5 Frameless Window with Cyberpunk Style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登录界面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无边框窗口 + 流体背景 (bg.jpg)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毛玻璃卡片效果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883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脉冲呼吸球声纹动画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07238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用户输入框 + 声纹验证/注册按钮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456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跳过验证快速进入选项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实时状态反馈 (颜色编码)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28016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主功能界面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02920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三栏布局: 控制面板 + 日志 + 信息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3042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实时音频波形可视化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6883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状态指示灯 (idle/listening/processing)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307238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快捷指令按钮 (截图/音量/搜索)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3456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身份验证板块 (注册/验证/删除)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3840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识别日志 + 系统信息面板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核心功能与技术亮点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Features &amp; Technical Highlights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34440"/>
            <a:ext cx="73152" cy="109728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多指令拆分执行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一条语音包含多条指令时，按逗号/分号/句号自动拆分，逐条解析执行，结果用 | 拼接返回。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234440"/>
            <a:ext cx="73152" cy="109728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动态热词注入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916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启动时扫描桌面快捷方式 250+ 应用名，动态注入 Whisper initial_prompt，提升专有名词识别率。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51460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514600"/>
            <a:ext cx="73152" cy="10972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PinyinTrie 纠错树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2971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前缀树前向最大匹配 + 拼音音节级编辑距离兜底，自动纠正 Whisper 声学级错音。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514600"/>
            <a:ext cx="73152" cy="1097280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自适应录音控制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2971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环境噪声校准 → 自适应语音阈值 → 1.2s 静音截断，平衡响应速度与多指令完整性。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79476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794760"/>
            <a:ext cx="73152" cy="1097280"/>
          </a:xfrm>
          <a:prstGeom prst="rect">
            <a:avLst/>
          </a:prstGeom>
          <a:solidFill>
            <a:srgbClr val="FFAB40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886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B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双重幻觉拦截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2519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Whisper 层: 重复检测+动词验证+长度过滤；VAD 层: 声学置信度交叉验证。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09160" y="379476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794760"/>
            <a:ext cx="73152" cy="1097280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3886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声纹安全验证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42519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ECAPA-TDNN 192维嵌入 + 余弦相似度 0.5 阈值，注册/验证/删除全生命周期管理。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4192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系统控制功能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Controller - Voice Commands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80160"/>
            <a:ext cx="2011680" cy="54864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应用管理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打开/关闭应用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3500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启动计算器/记事本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734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浏览器/文件管理器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181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自定义白名单应用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87168" y="128016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87168" y="1280160"/>
            <a:ext cx="201168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15" name="Text 13"/>
          <p:cNvSpPr/>
          <p:nvPr/>
        </p:nvSpPr>
        <p:spPr>
          <a:xfrm>
            <a:off x="2624328" y="1463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C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音量控制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24328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音量调大/调小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24328" y="23500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静音/取消静音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24328" y="2734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精确百分比设置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1181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渐进式调节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0016" y="128016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0016" y="1280160"/>
            <a:ext cx="201168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2" name="Text 20"/>
          <p:cNvSpPr/>
          <p:nvPr/>
        </p:nvSpPr>
        <p:spPr>
          <a:xfrm>
            <a:off x="4837176" y="1463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窗口操作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37176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最大化/最小化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37176" y="23500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关闭当前窗口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37176" y="2734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切换窗口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37176" y="31181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锁屏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912864" y="128016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12864" y="1280160"/>
            <a:ext cx="2011680" cy="54864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29" name="Text 27"/>
          <p:cNvSpPr/>
          <p:nvPr/>
        </p:nvSpPr>
        <p:spPr>
          <a:xfrm>
            <a:off x="7050024" y="1463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系统工具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50024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截图 (自动保存)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50024" y="23500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搜索 (百度/必应)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50024" y="2734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打开命令行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50024" y="31181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任务管理器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4663440"/>
            <a:ext cx="8595360" cy="320040"/>
          </a:xfrm>
          <a:prstGeom prst="roundRect">
            <a:avLst>
              <a:gd name="adj" fmla="val 28571"/>
            </a:avLst>
          </a:prstGeom>
          <a:solidFill>
            <a:srgbClr val="1A2030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支持语音指令 + GUI 快捷按钮双入口  |  指令集可通过 global_config.py 扩展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667EEA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457200"/>
            <a:ext cx="2286000" cy="2286000"/>
          </a:xfrm>
          <a:prstGeom prst="ellipse">
            <a:avLst/>
          </a:prstGeom>
          <a:solidFill>
            <a:srgbClr val="764BA2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1965960" cy="2011680"/>
          </a:xfrm>
          <a:prstGeom prst="roundRect">
            <a:avLst>
              <a:gd name="adj" fmla="val 4651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645920"/>
            <a:ext cx="1965960" cy="54864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28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语音识别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Faster-Whisper 双引擎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beam 束搜索 + 热词引导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拼音 Trie 纠错兜底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1645920"/>
            <a:ext cx="1965960" cy="2011680"/>
          </a:xfrm>
          <a:prstGeom prst="roundRect">
            <a:avLst>
              <a:gd name="adj" fmla="val 4651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645920"/>
            <a:ext cx="196596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1828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声纹验证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97480" y="22402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ECAPA-TDNN 深度学习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192维嵌入 + 余弦相似度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注册/验证/删除闭环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645920"/>
            <a:ext cx="1965960" cy="2011680"/>
          </a:xfrm>
          <a:prstGeom prst="roundRect">
            <a:avLst>
              <a:gd name="adj" fmla="val 4651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645920"/>
            <a:ext cx="1965960" cy="54864"/>
          </a:xfrm>
          <a:prstGeom prst="rect">
            <a:avLst/>
          </a:prstGeom>
          <a:solidFill>
            <a:srgbClr val="00E676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828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E6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智能控制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22402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6层指令解析策略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250+ 应用白名单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多指令拆分执行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1645920"/>
            <a:ext cx="1965960" cy="2011680"/>
          </a:xfrm>
          <a:prstGeom prst="roundRect">
            <a:avLst>
              <a:gd name="adj" fmla="val 4651"/>
            </a:avLst>
          </a:prstGeom>
          <a:solidFill>
            <a:srgbClr val="14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645920"/>
            <a:ext cx="1965960" cy="54864"/>
          </a:xfrm>
          <a:prstGeom prst="rect">
            <a:avLst/>
          </a:prstGeom>
          <a:solidFill>
            <a:srgbClr val="FFAB40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1828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AB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现代UI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95160" y="224028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PyQt5 无边框窗口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毛玻璃 + 流体背景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脉冲呼吸球动画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" y="4251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更大模型 (medium/large-v3)  |  流式识别  |  多语言支持  |  插件化指令系统  |  云端协同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E5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语音识别助手 - 项目汇报</dc:title>
  <dc:subject>PptxGenJS Presentation</dc:subject>
  <dc:creator>Halley</dc:creator>
  <cp:lastModifiedBy>Halley</cp:lastModifiedBy>
  <cp:revision>1</cp:revision>
  <dcterms:created xsi:type="dcterms:W3CDTF">2026-06-11T12:43:02Z</dcterms:created>
  <dcterms:modified xsi:type="dcterms:W3CDTF">2026-06-11T12:43:02Z</dcterms:modified>
</cp:coreProperties>
</file>